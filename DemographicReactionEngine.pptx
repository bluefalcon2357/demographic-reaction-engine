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1" d="100"/>
          <a:sy n="121" d="100"/>
        </p:scale>
        <p:origin x="73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01200" y="-1828800"/>
            <a:ext cx="5486400" cy="548640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16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4FC3F7"/>
                </a:solidFill>
                <a:latin typeface="Calibri"/>
              </a:rPr>
              <a:t>A 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Demographic Reaction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0">
                <a:solidFill>
                  <a:srgbClr val="F5F7FA"/>
                </a:solidFill>
                <a:latin typeface="Calibri"/>
              </a:rPr>
              <a:t>Pre-test your pitch on a synthetic America before you ship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4FC3F7"/>
                </a:solidFill>
                <a:latin typeface="Calibri"/>
              </a:rPr>
              <a:t>Powered by NVIDIA Nemotron-Personas-USA  +  Google Gemini  +  US Census ACS PUMS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4FC3F7"/>
                </a:solidFill>
                <a:latin typeface="Calibr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7315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Shipping copy without knowing how the public reacts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1">
                <a:solidFill>
                  <a:srgbClr val="4FC3F7"/>
                </a:solidFill>
                <a:latin typeface="Calibri"/>
              </a:rPr>
              <a:t>● </a:t>
            </a:r>
            <a:r>
              <a:rPr sz="2000">
                <a:solidFill>
                  <a:srgbClr val="141B29"/>
                </a:solidFill>
                <a:latin typeface="Calibri"/>
              </a:rPr>
              <a:t>Founders, marketers, and policy writers ship copy without knowing how different demographic segments will react.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1">
                <a:solidFill>
                  <a:srgbClr val="4FC3F7"/>
                </a:solidFill>
                <a:latin typeface="Calibri"/>
              </a:rPr>
              <a:t>● </a:t>
            </a:r>
            <a:r>
              <a:rPr sz="2000">
                <a:solidFill>
                  <a:srgbClr val="141B29"/>
                </a:solidFill>
                <a:latin typeface="Calibri"/>
              </a:rPr>
              <a:t>Real focus groups are slow, expensive, and statistically thin.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1">
                <a:solidFill>
                  <a:srgbClr val="4FC3F7"/>
                </a:solidFill>
                <a:latin typeface="Calibri"/>
              </a:rPr>
              <a:t>● </a:t>
            </a:r>
            <a:r>
              <a:rPr sz="2000">
                <a:solidFill>
                  <a:srgbClr val="141B29"/>
                </a:solidFill>
                <a:latin typeface="Calibri"/>
              </a:rPr>
              <a:t>Existing LLM “audience simulators” treat the public as one voice — no age, region, education, or gender breakdown.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6073"/>
                </a:solidFill>
                <a:latin typeface="Calibri"/>
              </a:rPr>
              <a:t>Demographic Reaction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6073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4FC3F7"/>
                </a:solidFill>
                <a:latin typeface="Calibri"/>
              </a:rPr>
              <a:t>THE 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7315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Combine a census-grounded persona pool with Gemini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9525">
            <a:solidFill>
              <a:srgbClr val="E2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109728" cy="292608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1. NVIDIA Nemotron-Personas-USA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49377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41B29"/>
                </a:solidFill>
                <a:latin typeface="Calibri"/>
              </a:rPr>
              <a:t>13,354 synthetic personas grounded in US Census distributions for age, gender, education, occupation, marital status, and state.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19456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9525">
            <a:solidFill>
              <a:srgbClr val="E2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2194560"/>
            <a:ext cx="109728" cy="2926080"/>
          </a:xfrm>
          <a:prstGeom prst="rect">
            <a:avLst/>
          </a:prstGeom>
          <a:solidFill>
            <a:srgbClr val="FFB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24688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2. Google Gemini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108960"/>
            <a:ext cx="49377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41B29"/>
                </a:solidFill>
                <a:latin typeface="Calibri"/>
              </a:rPr>
              <a:t>Generates segmented reactions across 5 demographic dimensions with a strict JSON response schema.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4864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Paste a pitch, headline, URL, or policy → get a population-scale reaction in seconds.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6073"/>
                </a:solidFill>
                <a:latin typeface="Calibri"/>
              </a:rPr>
              <a:t>Demographic Reaction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6073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432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4FC3F7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7315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From input to per-agent stance score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286000"/>
            <a:ext cx="640080" cy="64008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359152"/>
            <a:ext cx="640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Load Personas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03320"/>
            <a:ext cx="274320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dirty="0">
                <a:solidFill>
                  <a:srgbClr val="141B29"/>
                </a:solidFill>
                <a:latin typeface="Calibri"/>
              </a:rPr>
              <a:t>Up to </a:t>
            </a:r>
            <a:r>
              <a:rPr lang="en-US" sz="1300" dirty="0">
                <a:solidFill>
                  <a:srgbClr val="141B29"/>
                </a:solidFill>
                <a:latin typeface="Calibri"/>
              </a:rPr>
              <a:t>13,354</a:t>
            </a:r>
            <a:r>
              <a:rPr sz="1300" b="0" dirty="0">
                <a:solidFill>
                  <a:srgbClr val="141B29"/>
                </a:solidFill>
                <a:latin typeface="Calibri"/>
              </a:rPr>
              <a:t> balanced personas sampled at startup.</a:t>
            </a:r>
          </a:p>
        </p:txBody>
      </p:sp>
      <p:sp>
        <p:nvSpPr>
          <p:cNvPr id="10" name="Oval 9"/>
          <p:cNvSpPr/>
          <p:nvPr/>
        </p:nvSpPr>
        <p:spPr>
          <a:xfrm>
            <a:off x="3383280" y="2286000"/>
            <a:ext cx="640080" cy="64008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2359152"/>
            <a:ext cx="640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1546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Scrape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703320"/>
            <a:ext cx="27432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41B29"/>
                </a:solidFill>
                <a:latin typeface="Calibri"/>
              </a:rPr>
              <a:t>server.ts extracts title, meta, and body from URLs.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286000"/>
            <a:ext cx="640080" cy="64008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359152"/>
            <a:ext cx="640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1546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Score by Segment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703320"/>
            <a:ext cx="27432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41B29"/>
                </a:solidFill>
                <a:latin typeface="Calibri"/>
              </a:rPr>
              <a:t>Gemini returns stance −100 to +100 across 5 dimensions.</a:t>
            </a:r>
          </a:p>
        </p:txBody>
      </p:sp>
      <p:sp>
        <p:nvSpPr>
          <p:cNvPr id="18" name="Oval 17"/>
          <p:cNvSpPr/>
          <p:nvPr/>
        </p:nvSpPr>
        <p:spPr>
          <a:xfrm>
            <a:off x="9052560" y="2286000"/>
            <a:ext cx="640080" cy="64008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60" y="2359152"/>
            <a:ext cx="640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1546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Per-Agent Blend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3703320"/>
            <a:ext cx="27432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41B29"/>
                </a:solidFill>
                <a:latin typeface="Calibri"/>
              </a:rPr>
              <a:t>Weighted mix: Edu 30 / Age 25 / Region 20 / Gender 15 / Marital 10.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556073"/>
                </a:solidFill>
                <a:latin typeface="Calibri"/>
              </a:rPr>
              <a:t>Per-agent variance is deterministic from agent ID — same agent lands in the same place across reloads.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6073"/>
                </a:solidFill>
                <a:latin typeface="Calibri"/>
              </a:rPr>
              <a:t>Demographic Reaction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6073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4FC3F7"/>
                </a:solidFill>
                <a:latin typeface="Calibri"/>
              </a:rPr>
              <a:t>WHAT YOU SEE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7315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Five dashboard panels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59152"/>
            <a:ext cx="164592" cy="16459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267712"/>
            <a:ext cx="749807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41B29"/>
                </a:solidFill>
                <a:latin typeface="Calibri"/>
              </a:rPr>
              <a:t>Overall score, support / oppose rates, polarization index.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72384"/>
            <a:ext cx="164592" cy="16459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95351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Stance Distribution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980944"/>
            <a:ext cx="749807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41B29"/>
                </a:solidFill>
                <a:latin typeface="Calibri"/>
              </a:rPr>
              <a:t>20-bin histogram of all agents from strong oppose to strong support.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785616"/>
            <a:ext cx="164592" cy="16459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666744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Verbatim Quotes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694176"/>
            <a:ext cx="749807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41B29"/>
                </a:solidFill>
                <a:latin typeface="Calibri"/>
              </a:rPr>
              <a:t>Six raw Gemini quotes, color-coded by sentiment.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98848"/>
            <a:ext cx="164592" cy="16459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79976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Archetype Heatmap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4407408"/>
            <a:ext cx="749807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41B29"/>
                </a:solidFill>
                <a:latin typeface="Calibri"/>
              </a:rPr>
              <a:t>Demographic segments crosstabbed against stance.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12080"/>
            <a:ext cx="164592" cy="16459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5093208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Agent Directory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5120640"/>
            <a:ext cx="749807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41B29"/>
                </a:solidFill>
                <a:latin typeface="Calibri"/>
              </a:rPr>
              <a:t>Every individual agent with bio, score, and a tailored quote.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6073"/>
                </a:solidFill>
                <a:latin typeface="Calibri"/>
              </a:rPr>
              <a:t>Demographic Reaction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6073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4FC3F7"/>
                </a:solidFill>
                <a:latin typeface="Calibri"/>
              </a:rPr>
              <a:t>DATA ENRICHMENT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7315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Income joined from US Census ACS PUMS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41B29"/>
                </a:solidFill>
                <a:latin typeface="Calibri"/>
              </a:rPr>
              <a:t>Each persona is augmented with income via k-NN against 2023 ACS 1-year PUMS (~3.4M records).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97180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4FC3F7"/>
                </a:solidFill>
                <a:latin typeface="Calibri"/>
              </a:rPr>
              <a:t>13,354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PERSONAS (18+)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274320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37560" y="297180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4FC3F7"/>
                </a:solidFill>
                <a:latin typeface="Calibri"/>
              </a:rPr>
              <a:t>$31,200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3657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MEDIAN INCOME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74320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0" y="297180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4FC3F7"/>
                </a:solidFill>
                <a:latin typeface="Calibri"/>
              </a:rPr>
              <a:t>55 %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657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EXACT-CELL MATCHES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274320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15400" y="297180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4FC3F7"/>
                </a:solidFill>
                <a:latin typeface="Calibri"/>
              </a:rPr>
              <a:t>$0 – $418k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657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INCOME 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Calibri"/>
              </a:rPr>
              <a:t>Matching keys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37760"/>
            <a:ext cx="109728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State, gender, and education bucket are matched exactly; occupation is fuzzy-matched on 530 OCCP labels.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Within the matched cell, the 25 closest-age PUMS rows are taken and aggregated as a weighted median of PINCP × ADJINC.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Fallback ladder broadens occupation, then drops state, when fewer than 5 records match.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6073"/>
                </a:solidFill>
                <a:latin typeface="Calibri"/>
              </a:rPr>
              <a:t>Demographic Reaction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6073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4FC3F7"/>
                </a:solidFill>
                <a:latin typeface="Calibri"/>
              </a:rPr>
              <a:t>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548640" cy="7315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B1F3A"/>
                </a:solidFill>
                <a:latin typeface="Calibri"/>
              </a:rPr>
              <a:t>What it’s built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2743200" cy="5486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395728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34640"/>
            <a:ext cx="2743200" cy="2926080"/>
          </a:xfrm>
          <a:prstGeom prst="rect">
            <a:avLst/>
          </a:prstGeom>
          <a:solidFill>
            <a:srgbClr val="F5F7FA"/>
          </a:solidFill>
          <a:ln w="9525">
            <a:solidFill>
              <a:srgbClr val="E2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22860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React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Vite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Tailwind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286000"/>
            <a:ext cx="2743200" cy="5486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2395728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834640"/>
            <a:ext cx="2743200" cy="2926080"/>
          </a:xfrm>
          <a:prstGeom prst="rect">
            <a:avLst/>
          </a:prstGeom>
          <a:solidFill>
            <a:srgbClr val="F5F7FA"/>
          </a:solidFill>
          <a:ln w="9525">
            <a:solidFill>
              <a:srgbClr val="E2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11880" y="3063240"/>
            <a:ext cx="22860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Express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Vite middleware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TypeScript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286000"/>
            <a:ext cx="2743200" cy="5486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395728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834640"/>
            <a:ext cx="2743200" cy="2926080"/>
          </a:xfrm>
          <a:prstGeom prst="rect">
            <a:avLst/>
          </a:prstGeom>
          <a:solidFill>
            <a:srgbClr val="F5F7FA"/>
          </a:solidFill>
          <a:ln w="9525">
            <a:solidFill>
              <a:srgbClr val="E2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46520" y="3063240"/>
            <a:ext cx="22860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Google Gemini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Structured JSON schema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2286000"/>
            <a:ext cx="2743200" cy="5486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60" y="2395728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2834640"/>
            <a:ext cx="2743200" cy="2926080"/>
          </a:xfrm>
          <a:prstGeom prst="rect">
            <a:avLst/>
          </a:prstGeom>
          <a:solidFill>
            <a:srgbClr val="F5F7FA"/>
          </a:solidFill>
          <a:ln w="9525">
            <a:solidFill>
              <a:srgbClr val="E2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81160" y="3063240"/>
            <a:ext cx="22860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Nemotron-Personas-USA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4FC3F7"/>
                </a:solidFill>
                <a:latin typeface="Calibri"/>
              </a:rPr>
              <a:t>● </a:t>
            </a:r>
            <a:r>
              <a:rPr sz="1400">
                <a:solidFill>
                  <a:srgbClr val="141B29"/>
                </a:solidFill>
                <a:latin typeface="Calibri"/>
              </a:rPr>
              <a:t>ACS 1-yr PUMS 2023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556073"/>
                </a:solidFill>
                <a:latin typeface="Calibri"/>
              </a:rPr>
              <a:t>Build: esbuild → dist/server.cjs   •   Endpoint: POST /api/react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6073"/>
                </a:solidFill>
                <a:latin typeface="Calibri"/>
              </a:rPr>
              <a:t>Demographic Reaction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6073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4FC3F7"/>
                </a:solidFill>
                <a:latin typeface="Calibri"/>
              </a:rPr>
              <a:t>TRY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Inputs that work 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4FC3F7"/>
                </a:solidFill>
                <a:latin typeface="Calibri"/>
              </a:rPr>
              <a:t>● </a:t>
            </a:r>
            <a:r>
              <a:rPr sz="1800">
                <a:solidFill>
                  <a:srgbClr val="F5F7FA"/>
                </a:solidFill>
                <a:latin typeface="Calibri"/>
              </a:rPr>
              <a:t>A startup elevator pitch — “AI-powered tax filing for gig workers, $9/mo”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4FC3F7"/>
                </a:solidFill>
                <a:latin typeface="Calibri"/>
              </a:rPr>
              <a:t>● </a:t>
            </a:r>
            <a:r>
              <a:rPr sz="1800">
                <a:solidFill>
                  <a:srgbClr val="F5F7FA"/>
                </a:solidFill>
                <a:latin typeface="Calibri"/>
              </a:rPr>
              <a:t>An ad headline or product tagline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4FC3F7"/>
                </a:solidFill>
                <a:latin typeface="Calibri"/>
              </a:rPr>
              <a:t>● </a:t>
            </a:r>
            <a:r>
              <a:rPr sz="1800">
                <a:solidFill>
                  <a:srgbClr val="F5F7FA"/>
                </a:solidFill>
                <a:latin typeface="Calibri"/>
              </a:rPr>
              <a:t>A URL to a product page, YouTube video, or news article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4FC3F7"/>
                </a:solidFill>
                <a:latin typeface="Calibri"/>
              </a:rPr>
              <a:t>● </a:t>
            </a:r>
            <a:r>
              <a:rPr sz="1800">
                <a:solidFill>
                  <a:srgbClr val="F5F7FA"/>
                </a:solidFill>
                <a:latin typeface="Calibri"/>
              </a:rPr>
              <a:t>A draft policy proposal — “Federal $15/hr minimum wage with regional adjustments”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120640"/>
            <a:ext cx="10515600" cy="1188720"/>
          </a:xfrm>
          <a:prstGeom prst="roundRect">
            <a:avLst>
              <a:gd name="adj" fmla="val 12000"/>
            </a:avLst>
          </a:prstGeom>
          <a:solidFill>
            <a:srgbClr val="16335C"/>
          </a:solidFill>
          <a:ln w="1524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52578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4FC3F7"/>
                </a:solidFill>
                <a:latin typeface="Calibri"/>
              </a:rPr>
              <a:t>Hosted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532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ai.studio/apps/b127578e-d8ac-43b2-97e9-b208ead7367c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25780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4FC3F7"/>
                </a:solidFill>
                <a:latin typeface="Calibri"/>
              </a:rPr>
              <a:t>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5321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npm install &amp;&amp; npm run dev  →  localhost:3000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609</Words>
  <Application>Microsoft Macintosh PowerPoint</Application>
  <PresentationFormat>Widescreen</PresentationFormat>
  <Paragraphs>97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Amol Behrani</cp:lastModifiedBy>
  <cp:revision>2</cp:revision>
  <dcterms:created xsi:type="dcterms:W3CDTF">2013-01-27T09:14:16Z</dcterms:created>
  <dcterms:modified xsi:type="dcterms:W3CDTF">2026-05-23T22:49:43Z</dcterms:modified>
  <cp:category/>
</cp:coreProperties>
</file>