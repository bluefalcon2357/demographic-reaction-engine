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6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A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Demographic Reaction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F7FA"/>
                </a:solidFill>
                <a:latin typeface="Calibri"/>
              </a:rPr>
              <a:t>Pre-test your pitch on a synthetic America before you ship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FC3F7"/>
                </a:solidFill>
                <a:latin typeface="Calibri"/>
              </a:rPr>
              <a:t>Powered by NVIDIA Nemotron-Personas-USA  +  Google Gemini  +  US Census ACS PUMS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Shipping copy without knowing how the public reacts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4FC3F7"/>
                </a:solidFill>
                <a:latin typeface="Calibri"/>
              </a:rPr>
              <a:t>● </a:t>
            </a:r>
            <a:r>
              <a:rPr sz="2000">
                <a:solidFill>
                  <a:srgbClr val="141B29"/>
                </a:solidFill>
                <a:latin typeface="Calibri"/>
              </a:rPr>
              <a:t>Founders, marketers, and policy writers ship copy without knowing how different demographic segments will react.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4FC3F7"/>
                </a:solidFill>
                <a:latin typeface="Calibri"/>
              </a:rPr>
              <a:t>● </a:t>
            </a:r>
            <a:r>
              <a:rPr sz="2000">
                <a:solidFill>
                  <a:srgbClr val="141B29"/>
                </a:solidFill>
                <a:latin typeface="Calibri"/>
              </a:rPr>
              <a:t>Real focus groups are slow, expensive, and statistically thin.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4FC3F7"/>
                </a:solidFill>
                <a:latin typeface="Calibri"/>
              </a:rPr>
              <a:t>● </a:t>
            </a:r>
            <a:r>
              <a:rPr sz="2000">
                <a:solidFill>
                  <a:srgbClr val="141B29"/>
                </a:solidFill>
                <a:latin typeface="Calibri"/>
              </a:rPr>
              <a:t>Existing LLM “audience simulators” treat the public as one voice — no age, region, education, or gender breakdown.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3"/>
                </a:solidFill>
                <a:latin typeface="Calibri"/>
              </a:rPr>
              <a:t>Demographic Reaction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3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Calibri"/>
              </a:rPr>
              <a:t>THE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Combine a census-grounded persona pool with Gemini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" cy="29260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1. NVIDIA Nemotron-Personas-USA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B29"/>
                </a:solidFill>
                <a:latin typeface="Calibri"/>
              </a:rPr>
              <a:t>13,354 synthetic personas grounded in US Census distributions for age, gender, education, occupation, marital status, and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9456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109728" cy="2926080"/>
          </a:xfrm>
          <a:prstGeom prst="rect">
            <a:avLst/>
          </a:prstGeom>
          <a:solidFill>
            <a:srgbClr val="FFB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2. Google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0896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B29"/>
                </a:solidFill>
                <a:latin typeface="Calibri"/>
              </a:rPr>
              <a:t>Generates segmented reactions across 5 demographic dimensions with a strict JSON response schema.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Paste a pitch, headline, URL, or policy → get a population-scale reaction in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3"/>
                </a:solidFill>
                <a:latin typeface="Calibri"/>
              </a:rPr>
              <a:t>Demographic Reaction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3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From input to per-agent stance score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86000"/>
            <a:ext cx="640080" cy="6400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Load Personas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41B29"/>
                </a:solidFill>
                <a:latin typeface="Calibri"/>
              </a:rPr>
              <a:t>Up to 20,000 balanced personas sampled at startup.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2286000"/>
            <a:ext cx="640080" cy="6400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59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54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Scrape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41B29"/>
                </a:solidFill>
                <a:latin typeface="Calibri"/>
              </a:rPr>
              <a:t>server.ts extracts title, meta, and body from URLs.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286000"/>
            <a:ext cx="640080" cy="6400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9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54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Score by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70332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41B29"/>
                </a:solidFill>
                <a:latin typeface="Calibri"/>
              </a:rPr>
              <a:t>Gemini returns stance −100 to +100 across 5 dimensions.</a:t>
            </a:r>
          </a:p>
        </p:txBody>
      </p:sp>
      <p:sp>
        <p:nvSpPr>
          <p:cNvPr id="18" name="Oval 17"/>
          <p:cNvSpPr/>
          <p:nvPr/>
        </p:nvSpPr>
        <p:spPr>
          <a:xfrm>
            <a:off x="9052560" y="2286000"/>
            <a:ext cx="640080" cy="6400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359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154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Per-Agent Blend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70332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41B29"/>
                </a:solidFill>
                <a:latin typeface="Calibri"/>
              </a:rPr>
              <a:t>Weighted mix: Edu 30 / Age 25 / Region 20 / Gender 15 / Marital 10.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3"/>
                </a:solidFill>
                <a:latin typeface="Calibri"/>
              </a:rPr>
              <a:t>Per-agent variance is deterministic from agent ID — same agent lands in the same place across reloads.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3"/>
                </a:solidFill>
                <a:latin typeface="Calibri"/>
              </a:rPr>
              <a:t>Demographic Reaction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3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Calibri"/>
              </a:rPr>
              <a:t>WHAT YOU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Five dashboard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59152"/>
            <a:ext cx="164592" cy="1645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267712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B29"/>
                </a:solidFill>
                <a:latin typeface="Calibri"/>
              </a:rPr>
              <a:t>Overall score, support / oppose rates, polarization index.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72384"/>
            <a:ext cx="164592" cy="1645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Stance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80944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B29"/>
                </a:solidFill>
                <a:latin typeface="Calibri"/>
              </a:rPr>
              <a:t>20-bin histogram of all agents from strong oppose to strong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85616"/>
            <a:ext cx="164592" cy="1645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Verbatim Quotes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694176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B29"/>
                </a:solidFill>
                <a:latin typeface="Calibri"/>
              </a:rPr>
              <a:t>Six raw Gemini quotes, color-coded by sentiment.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98848"/>
            <a:ext cx="164592" cy="1645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997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Archetype Heatmap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40740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B29"/>
                </a:solidFill>
                <a:latin typeface="Calibri"/>
              </a:rPr>
              <a:t>Demographic segments crosstabbed against stance.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12080"/>
            <a:ext cx="164592" cy="1645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932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Agent Directory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1206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B29"/>
                </a:solidFill>
                <a:latin typeface="Calibri"/>
              </a:rPr>
              <a:t>Every individual agent with bio, score, and a tailored quote.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3"/>
                </a:solidFill>
                <a:latin typeface="Calibri"/>
              </a:rPr>
              <a:t>Demographic Reaction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3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Calibri"/>
              </a:rPr>
              <a:t>DATA ENRICHMENT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Income joined from US Census ACS PUMS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B29"/>
                </a:solidFill>
                <a:latin typeface="Calibri"/>
              </a:rPr>
              <a:t>Each persona is augmented with income via k-NN against 2023 ACS 1-year PUMS (~3.4M records).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FC3F7"/>
                </a:solidFill>
                <a:latin typeface="Calibri"/>
              </a:rPr>
              <a:t>13,354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PERSONAS (18+)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743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9718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FC3F7"/>
                </a:solidFill>
                <a:latin typeface="Calibri"/>
              </a:rPr>
              <a:t>$31,200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6576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MEDIAN INCOME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43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9718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FC3F7"/>
                </a:solidFill>
                <a:latin typeface="Calibri"/>
              </a:rPr>
              <a:t>55 %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6576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EXACT-CELL MATCHES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743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9718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FC3F7"/>
                </a:solidFill>
                <a:latin typeface="Calibri"/>
              </a:rPr>
              <a:t>$0 – $418k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6576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INCOME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Matching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09728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State, gender, and education bucket are matched exactly; occupation is fuzzy-matched on 530 OCCP labels.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Within the matched cell, the 25 closest-age PUMS rows are taken and aggregated as a weighted median of PINCP × ADJINC.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Fallback ladder broadens occupation, then drops state, when fewer than 5 records match.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3"/>
                </a:solidFill>
                <a:latin typeface="Calibri"/>
              </a:rPr>
              <a:t>Demographic Reaction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3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Calibri"/>
              </a:rPr>
              <a:t>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What it’s built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743200" cy="5486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2743200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2286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React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Vite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Tailwind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286000"/>
            <a:ext cx="2743200" cy="5486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957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834640"/>
            <a:ext cx="2743200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063240"/>
            <a:ext cx="2286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Express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Vite middleware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743200" cy="5486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957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34640"/>
            <a:ext cx="2743200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2286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Structured JSON 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286000"/>
            <a:ext cx="2743200" cy="5486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3957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834640"/>
            <a:ext cx="2743200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063240"/>
            <a:ext cx="2286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Nemotron-Personas-USA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C3F7"/>
                </a:solidFill>
                <a:latin typeface="Calibri"/>
              </a:rPr>
              <a:t>● </a:t>
            </a:r>
            <a:r>
              <a:rPr sz="1400">
                <a:solidFill>
                  <a:srgbClr val="141B29"/>
                </a:solidFill>
                <a:latin typeface="Calibri"/>
              </a:rPr>
              <a:t>ACS 1-yr PUMS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3"/>
                </a:solidFill>
                <a:latin typeface="Calibri"/>
              </a:rPr>
              <a:t>Build: esbuild → dist/server.cjs   •   Endpoint: POST /api/react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3"/>
                </a:solidFill>
                <a:latin typeface="Calibri"/>
              </a:rPr>
              <a:t>Demographic Reaction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3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Inputs that work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4FC3F7"/>
                </a:solidFill>
                <a:latin typeface="Calibri"/>
              </a:rPr>
              <a:t>● </a:t>
            </a:r>
            <a:r>
              <a:rPr sz="1800">
                <a:solidFill>
                  <a:srgbClr val="F5F7FA"/>
                </a:solidFill>
                <a:latin typeface="Calibri"/>
              </a:rPr>
              <a:t>A startup elevator pitch — “AI-powered tax filing for gig workers, $9/mo”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4FC3F7"/>
                </a:solidFill>
                <a:latin typeface="Calibri"/>
              </a:rPr>
              <a:t>● </a:t>
            </a:r>
            <a:r>
              <a:rPr sz="1800">
                <a:solidFill>
                  <a:srgbClr val="F5F7FA"/>
                </a:solidFill>
                <a:latin typeface="Calibri"/>
              </a:rPr>
              <a:t>An ad headline or product tagline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4FC3F7"/>
                </a:solidFill>
                <a:latin typeface="Calibri"/>
              </a:rPr>
              <a:t>● </a:t>
            </a:r>
            <a:r>
              <a:rPr sz="1800">
                <a:solidFill>
                  <a:srgbClr val="F5F7FA"/>
                </a:solidFill>
                <a:latin typeface="Calibri"/>
              </a:rPr>
              <a:t>A URL to a product page, YouTube video, or news article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4FC3F7"/>
                </a:solidFill>
                <a:latin typeface="Calibri"/>
              </a:rPr>
              <a:t>● </a:t>
            </a:r>
            <a:r>
              <a:rPr sz="1800">
                <a:solidFill>
                  <a:srgbClr val="F5F7FA"/>
                </a:solidFill>
                <a:latin typeface="Calibri"/>
              </a:rPr>
              <a:t>A draft policy proposal — “Federal $15/hr minimum wage with regional adjustments”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515600" cy="1188720"/>
          </a:xfrm>
          <a:prstGeom prst="roundRect">
            <a:avLst>
              <a:gd name="adj" fmla="val 12000"/>
            </a:avLst>
          </a:prstGeom>
          <a:solidFill>
            <a:srgbClr val="16335C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Calibri"/>
              </a:rPr>
              <a:t>Hosted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ai.studio/apps/b127578e-d8ac-43b2-97e9-b208ead7367c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  <a:latin typeface="Calibri"/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532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npm install &amp;&amp; npm run dev  →  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